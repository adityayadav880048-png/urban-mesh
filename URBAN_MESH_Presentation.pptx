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smith-mysql-initiated-critical.trycloudflare.com/" TargetMode="External"/><Relationship Id="rId2" Type="http://schemas.openxmlformats.org/officeDocument/2006/relationships/hyperlink" Target="https://smith-mysql-initiated-critical.trycloudflare.com/" TargetMode="External"/><Relationship Id="rId3" Type="http://schemas.openxmlformats.org/officeDocument/2006/relationships/hyperlink" Target="https://smith-mysql-initiated-critical.trycloudflare.com/twin.html" TargetMode="External"/><Relationship Id="rId4" Type="http://schemas.openxmlformats.org/officeDocument/2006/relationships/hyperlink" Target="https://github.com/adityayadav880048-png/URBAN-MESH" TargetMode="External"/><Relationship Id="rId5" Type="http://schemas.openxmlformats.org/officeDocument/2006/relationships/hyperlink" Target="https://github.com/adityayadav880048-png/URBAN-MESH" TargetMode="External"/><Relationship Id="rId6" Type="http://schemas.openxmlformats.org/officeDocument/2006/relationships/hyperlink" Target="https://github.com/adityayadav880048-png/URBAN-MESH/blob/main/README.md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4389120" cy="320040"/>
          </a:xfrm>
          <a:prstGeom prst="roundRect">
            <a:avLst>
              <a:gd name="adj" fmla="val 48571"/>
            </a:avLst>
          </a:prstGeom>
          <a:solidFill>
            <a:srgbClr val="00F0FF">
              <a:alpha val="12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🏛️ CHANDIGARH UNIVERSITY · CSE DEPT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URBAN MESH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Civic Operations, Mobility Mesh &amp;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Spatial Digital Twin of Chandigarh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next-generation hardware-free municipal command platform unifying emergency green corridors, women safety SafePath with 30s psychoacoustic SOS, and real-time environmental telemetry.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D1636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1330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4370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PS-02: Smart &amp; Sustainable Cities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402336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D1636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41330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86200" y="437083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B4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Ikarus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D1636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1389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TARGET CITY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8680" y="53766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Chandigarh (Le Corbusier Grid)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502920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0D1636"/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51389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86200" y="537667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E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 FPS Three.js WebGL + Gemini AI</a:t>
            </a:r>
            <a:endParaRPr lang="en-US" sz="1100" dirty="0"/>
          </a:p>
        </p:txBody>
      </p:sp>
      <p:pic>
        <p:nvPicPr>
          <p:cNvPr id="19" name="Image 0" descr="C:\Users\staro\.gemini\antigravity\scratch\smart-chandigarh\presentation_assets\slide_image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4389120" cy="5120640"/>
          </a:xfrm>
          <a:prstGeom prst="ellipse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132320" y="914400"/>
            <a:ext cx="4389120" cy="5120640"/>
          </a:xfrm>
          <a:prstGeom prst="roundRect">
            <a:avLst>
              <a:gd name="adj" fmla="val 3125"/>
            </a:avLst>
          </a:prstGeom>
          <a:solidFill>
            <a:srgbClr val="000000">
              <a:alpha val="0"/>
            </a:srgbClr>
          </a:solidFill>
          <a:ln w="25400">
            <a:solidFill>
              <a:srgbClr val="00F0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00F0FF">
              <a:alpha val="15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 IKARUS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 Introduction &amp; Engineering Contributions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Chandigarh University engineering squad bridging high-throughput APIs, edge computer vision, and spatial WebGL.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2148840"/>
            <a:ext cx="914400" cy="914400"/>
          </a:xfrm>
          <a:prstGeom prst="ellipse">
            <a:avLst/>
          </a:prstGeom>
          <a:solidFill>
            <a:srgbClr val="1A2650"/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Akshat Kaushik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Full-Stack &amp; Asynchronous APIs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05840" y="4114800"/>
            <a:ext cx="201168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5196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Engineered high-throughput async REST API architecture, Redis state synchronizers, and integrated frontend state machines.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2148840"/>
            <a:ext cx="914400" cy="914400"/>
          </a:xfrm>
          <a:prstGeom prst="ellipse">
            <a:avLst/>
          </a:prstGeom>
          <a:solidFill>
            <a:srgbClr val="1A2650"/>
          </a:solidFill>
          <a:ln w="25400">
            <a:solidFill>
              <a:srgbClr val="D8B4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B4F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Aaditya Tomar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B4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AI/ML &amp; Computer Vision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03320" y="4114800"/>
            <a:ext cx="201168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425196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YOLOv8 fine-tuning for traffic flow estimation, homography calibration for camera cones, and edge privacy filters.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2148840"/>
            <a:ext cx="914400" cy="914400"/>
          </a:xfrm>
          <a:prstGeom prst="ellipse">
            <a:avLst/>
          </a:prstGeom>
          <a:solidFill>
            <a:srgbClr val="1A2650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Karanveer Pundir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3D Spatial Systems &amp; GIS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4114800"/>
            <a:ext cx="201168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425196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the Three.js WebGL 3D Digital Twin with authentic Le Corbusier sector grids, V-road hierarchy, and 60 FPS optimizations.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2396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46920" y="2148840"/>
            <a:ext cx="914400" cy="914400"/>
          </a:xfrm>
          <a:prstGeom prst="ellipse">
            <a:avLst/>
          </a:prstGeom>
          <a:solidFill>
            <a:srgbClr val="1A2650"/>
          </a:solidFill>
          <a:ln w="25400">
            <a:solidFill>
              <a:srgbClr val="FF5E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46920" y="21488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E7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6112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Aditya Yadav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96112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E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Hardware Security &amp; Cloud Deployment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098280" y="4114800"/>
            <a:ext cx="201168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06840" y="425196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30s Web Audio SOS siren, Duress PIN 9999 coercion defense, Cloudflare tunneling, and Gemini 2.0 Flash AI proxy.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00F0FF">
              <a:alpha val="15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CHALLENGE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Statement: Urban Growth Fractures Civic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urbanization forces Sanitation, Mobility, and Emergency Services into isolated operational silos.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031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E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🚨 EMERGENCY MOBILITY CRISIS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Traffic Chokepoints &amp; Delayed Ambulances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0120" y="3154680"/>
            <a:ext cx="297180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3375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Critical emergency transit to PGIMER (Sec 12) suffers severe delays during peak hours.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42062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Manual traffic overrides require multiple phone calls and radio dispatch delays.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0120" y="50749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Lack of real-time signal preemption leads to preventable emergency care transit loss.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82880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1031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B4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🛡️ WOMEN &amp; CITIZEN SAFETY GAP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0" y="24231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Dark Corridor Blind Spots &amp; Coercion Risks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0" y="3154680"/>
            <a:ext cx="297180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3375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Night pedestrians lack intelligence on well-lit, CCTV-monitored safe walking routes.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0" y="42062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Traditional panic alarms expose victims to violence if forced to shut off the alarm by attackers.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50749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Zero covert duress defense mechanism existed in legacy municipal mobile apps.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0" y="182880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21031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🗑️ MUNICIPAL LOGISTICS DEFICIT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183880" y="24231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Reactive Sanitation &amp; Overflowing Bins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183880" y="3154680"/>
            <a:ext cx="297180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33375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High footfall commercial hubs (Sector 17 Plaza, Sector 22) face random waste overflows.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83880" y="42062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Municipal compactor trucks drive fixed, static routes wasting 35% unnecessary diesel.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83880" y="50749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Hardware IoT sensors in public bins suffer 40%+ vandalism and battery failure.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00F0FF">
              <a:alpha val="15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&amp; BENCHMARK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Context &amp; Existing Solutions Gap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smart city deployments fail due to hardware fragility, theft, and isolated data architectures.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14101A"/>
          </a:solidFill>
          <a:ln w="19050">
            <a:solidFill>
              <a:srgbClr val="4A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E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❌ LEGACY SMART CITY IMPLEMENTATIONS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Fragile Physical Hardware &amp; Siloed Operations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Physical IoT sensors inside public dustbins get stolen, vandalized, or broken by weather within months.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Road magnetometer sensors in asphalt get damaged during routine road repairs and paving.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Green corridors require manual police phone-trees, causing 3-5 minute dispatch coordination latency.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4709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Surveillance cameras record raw footage with zero real-time AI privacy redaction or blind spot tracking.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53035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 Citizen apps only provide static maps without active psychoacoustic deterrence or covert safety PINs.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0A1933"/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031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✅ THE URBAN MESH PARADIGM SHIFT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4231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Hardware-Free, Edge-AI &amp; 3D Spatial Intelligence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9260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 Zero physical bin sensors — analyzes CCTV footage and municipal fill rate prediction models purely in software.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35204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 Automated 300m intersection geofencing dynamically preempts traffic lights for emergency ambulances.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41148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 4-Way intersection tie-breaker algorithm prioritizes patient medical triage and opposing lanes.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47091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 30s Web Audio dual-tone siren (880Hz-1450Hz) with covert Duress PIN 9999 for silent Code Black police dispatch.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53035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 Locked 60 FPS Three.js 3D Digital Twin synchronizes with live Open-Meteo weather and Google Maps satellite views.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00F0FF">
              <a:alpha val="15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ARCHITECTURAL SHIFT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Urban Mesh: Software-Defined Municipal Command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Physical Sensors. Purely Software-Driven Intelligence.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E7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PUBLIC SAFETY MESH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5E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Civilian Protection &amp; Coercion Defense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60120" y="3291840"/>
            <a:ext cx="297180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7472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30-second dual-tone psychoacoustic siren, SafePath night routing, and Duress PIN 9999 silent coercion defense that fools attackers while dispatching Code Black police teams.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60120" y="5303520"/>
            <a:ext cx="2971800" cy="594360"/>
          </a:xfrm>
          <a:prstGeom prst="roundRect">
            <a:avLst>
              <a:gd name="adj" fmla="val 1538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FF5E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30352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5E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📈 +62% Night Safety Confidence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182880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72000" y="26060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AUTONOMOUS MOBILITY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2926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Emergency Signal Preemption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3291840"/>
            <a:ext cx="297180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47472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Sub-second cascade traffic preemption over Madhya Marg &amp; Jan Marg corridors. Automatically preempts 7+ junctions to PGIMER Sector 12 with 4-way deadlock tie-breaking.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5303520"/>
            <a:ext cx="2971800" cy="594360"/>
          </a:xfrm>
          <a:prstGeom prst="roundRect">
            <a:avLst>
              <a:gd name="adj" fmla="val 1538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530352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📈 -48% Transit Delay to PGIMER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55280" y="1828800"/>
            <a:ext cx="3429000" cy="4389120"/>
          </a:xfrm>
          <a:prstGeom prst="roundRect">
            <a:avLst>
              <a:gd name="adj" fmla="val 4000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183880" y="26060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SANITATION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83880" y="29260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Dynamic Waste Logistics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83880" y="3291840"/>
            <a:ext cx="297180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347472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fill-level estimation for high-density heritage sectors (17 Plaza &amp; 22 Market). Automatically updates compactor truck routes to eliminate unmonitored waste accumulation.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183880" y="5303520"/>
            <a:ext cx="2971800" cy="594360"/>
          </a:xfrm>
          <a:prstGeom prst="roundRect">
            <a:avLst>
              <a:gd name="adj" fmla="val 1538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5303520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📈 -35% Diesel Fleet Consumption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00F0FF">
              <a:alpha val="15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 CAPABILITIES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Features &amp; Proprietary Innovations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Algorithmic pipelines delivering civilian safety, dynamic logistics, and automated traffic dispatching.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257800" cy="2057400"/>
          </a:xfrm>
          <a:prstGeom prst="roundRect">
            <a:avLst>
              <a:gd name="adj" fmla="val 666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🏙️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20848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2331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3D Spatial Digital Twin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Three.js WebGL model of Chandigarh matching Le Corbusier grid, Capitol Complex (Assembly &amp; Secretariat), and live wind-coupled Open Hand Monument running at 60 FPS.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257800" cy="2057400"/>
          </a:xfrm>
          <a:prstGeom prst="roundRect">
            <a:avLst>
              <a:gd name="adj" fmla="val 666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132320" y="208483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E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 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0" y="2331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30s SOS Siren &amp; Duress PIN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278892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Psychoacoustic 880Hz-1450Hz warble siren with red screen strobe. Duress PIN 9999 silences the alarm to trick attackers while covertly dispatching Code Black police units.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5257800" cy="2057400"/>
          </a:xfrm>
          <a:prstGeom prst="roundRect">
            <a:avLst>
              <a:gd name="adj" fmla="val 666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🚑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45920" y="43251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 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592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Green Corridor Preemption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05840" y="502920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Sub-second cascade traffic signal preemption over 7 junctions from Sec 26 to PGIMER Sec 12. Smart 4-way tie-breaker resolves multiple simultaneous emergency requests.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4069080"/>
            <a:ext cx="5257800" cy="2057400"/>
          </a:xfrm>
          <a:prstGeom prst="roundRect">
            <a:avLst>
              <a:gd name="adj" fmla="val 666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132320" y="43251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B4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 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0" y="4572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Google Gemini 2.0 AI Copilot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92240" y="502920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AI assistant with natural language understanding of smart city telemetry, voice synthesis readout (TTS), and graceful offline Neural Engine fallback.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00F0FF">
              <a:alpha val="15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Proposed System Workflow &amp; End-to-End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event-driven pub/sub dataflow evaluating real-time spatial nodes.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2560320" cy="402336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Ingestion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CCTV &amp; SENSORS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219456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2044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Ingests existing traffic CCTV streams, GPS fleet trackers, and Open-Meteo live weather &amp; AQI telemetry.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0" y="3657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0FF"/>
                </a:solidFill>
              </a:rPr>
              <a:t>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29000" y="2011680"/>
            <a:ext cx="2560320" cy="402336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B4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2606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Edge Analytics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3017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IN-MEMORY ENGINE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11880" y="3337560"/>
            <a:ext cx="219456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352044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Evaluates vehicle queues, detects blind spots, anonymizes civilian faces (DPDP 2023), and calculates waste fill deltas.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97880" y="3657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0FF"/>
                </a:solidFill>
              </a:rPr>
              <a:t>➔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26480" y="2011680"/>
            <a:ext cx="2560320" cy="402336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606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Optimization Core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3017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SIGNAL &amp; ROUTING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309360" y="3337560"/>
            <a:ext cx="219456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52044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Dispatches green corridor cascades to traffic controllers, computes SafePath routes, and optimizes compactor rounds.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95360" y="3657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0FF"/>
                </a:solidFill>
              </a:rPr>
              <a:t>➔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823960" y="2011680"/>
            <a:ext cx="2560320" cy="402336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06840" y="2286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E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006840" y="26060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Command Interface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006840" y="3017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3D TWIN &amp; CITIZEN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006840" y="3337560"/>
            <a:ext cx="219456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06840" y="352044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Renders 60 FPS Three.js spatial digital twin, feeds 9 ICCC command panels, and updates citizen mobile devices.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00F0FF">
              <a:alpha val="15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ENGINEERING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Production-Grade Technology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Battle-tested frameworks, zero-dependency Node runtime, and accelerated WebGL graphics.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 &amp; 3D WEBGL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219456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6974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97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Three.js (r128) WebGL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333756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337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Three.js OrbitControls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397764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Chart.js v4.4 Telemetry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" y="46177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617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Inter &amp; JetBrains Mono Fonts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4400" y="52578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257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CSS3 Glassmorphism Blur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2900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B4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BACKEND &amp; RUNTIME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11880" y="2514600"/>
            <a:ext cx="219456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11880" y="26974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2697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Node.js Native Standard Lib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11880" y="333756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3337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Zero npm dependencies server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11880" y="397764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Native HTTPS Proxy Client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11880" y="46177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4617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Node.js vm Script Sandbox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11880" y="52578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5257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Fast Streaming Static Server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2648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ARTIFICIAL INTELLIGENCE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09360" y="2514600"/>
            <a:ext cx="219456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26974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697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Google Gemini 2.0 Flash API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09360" y="333756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337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Smart City System Prompting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9360" y="397764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Urban Mesh Neural Engine (Offline)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09360" y="46177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617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Web Speech Synthesis (TTS)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09360" y="52578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5257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Interactive Action Triggers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82396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6112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5E7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GEOSPATIAL &amp; SENSORS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006840" y="2514600"/>
            <a:ext cx="219456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06840" y="26974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098280" y="2697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Google Maps Satellite Embed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006840" y="333756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98280" y="3337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ESRI ArcGIS World Imagery API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006840" y="397764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98280" y="39776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Open-Meteo Weather API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006840" y="46177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98280" y="46177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Open-Meteo AQI Telemetry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006840" y="52578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E2E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98280" y="5257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 Web Audio 30s Siren Synthesizer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00F0FF">
              <a:alpha val="15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 &amp; FEASIBILITY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Feasibility &amp; 4-Phase Municipal Rollout 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Pragmatic deployment schedule utilizing existing Chandigarh city infrastructure.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MONTHS 1 - 2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Spatial &amp; GIS Mapping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219456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204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Sectors 1, 12 (PGIMER), 16, 17, and 22. Ingest existing municipal CCTV cameras and configure Edge AI blind spot cones.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2900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B4F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MONTHS 3 - 4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11880" y="2743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Green Corridor Activation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11880" y="3337560"/>
            <a:ext cx="219456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35204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300m intersection geofencing along Madhya Marg and Jan Marg arterial highways. Validate 4-way deadlock resolution.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MONTHS 5 - 6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2743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Citizen App &amp; Safety Rollout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337560"/>
            <a:ext cx="219456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5204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Citizen Mobile App with SafePath routing, Pink Police Booth links, and 30s SOS siren with Duress PIN 9999.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823960" y="182880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0684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E7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PHASE 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006840" y="2423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MONTHS 7+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006840" y="2743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City-Wide Scaling &amp; Drones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06840" y="3337560"/>
            <a:ext cx="2194560" cy="0"/>
          </a:xfrm>
          <a:prstGeom prst="line">
            <a:avLst/>
          </a:prstGeom>
          <a:noFill/>
          <a:ln w="12700">
            <a:solidFill>
              <a:srgbClr val="1E2E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6840" y="3520440"/>
            <a:ext cx="2194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to all 60 Chandigarh sectors. Integrate autonomous FLIR surveillance drones and automated waste truck routing.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00F0FF">
              <a:alpha val="15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METRICS &amp; HORIZONS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Expected Impact &amp; Quantifiable Civic Returns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Empowering civic authorities with quantifiable response acceleration and future drone integrations.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834640" cy="2011680"/>
          </a:xfrm>
          <a:prstGeom prst="roundRect">
            <a:avLst>
              <a:gd name="adj" fmla="val 6818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-48%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Emergency Transit Delay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Ambulances reach PGIMER Trauma in half the time via automated signal preemption.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49040" y="1828800"/>
            <a:ext cx="2834640" cy="2011680"/>
          </a:xfrm>
          <a:prstGeom prst="roundRect">
            <a:avLst>
              <a:gd name="adj" fmla="val 6818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011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+62%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31920" y="2560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Night Walking Safety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31920" y="2926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Women citizens report significantly higher confidence using well-lit SafePath routes.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2834640" cy="2011680"/>
          </a:xfrm>
          <a:prstGeom prst="roundRect">
            <a:avLst>
              <a:gd name="adj" fmla="val 6818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206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8B4F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-35%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4400" y="4754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Fuel &amp; Carbon Footprint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5120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Municipal waste compactors drive dynamic, fill-optimized collection routes.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49040" y="4023360"/>
            <a:ext cx="2834640" cy="2011680"/>
          </a:xfrm>
          <a:prstGeom prst="roundRect">
            <a:avLst>
              <a:gd name="adj" fmla="val 6818"/>
            </a:avLst>
          </a:prstGeom>
          <a:solidFill>
            <a:srgbClr val="0D1636"/>
          </a:solidFill>
          <a:ln w="19050">
            <a:solidFill>
              <a:srgbClr val="1E2E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4206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E7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60 FPS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931920" y="4754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Locked 3D Performance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931920" y="5120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High-performance WebGL digital twin rendering on any standard laptop without GPU lag.</a:t>
            </a:r>
            <a:endParaRPr lang="en-US" sz="950" dirty="0"/>
          </a:p>
        </p:txBody>
      </p:sp>
      <p:pic>
        <p:nvPicPr>
          <p:cNvPr id="22" name="Image 0" descr="C:\Users\staro\.gemini\antigravity\scratch\smart-chandigarh\presentation_assets\slide_image_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0"/>
            <a:ext cx="4480560" cy="4206240"/>
          </a:xfrm>
          <a:prstGeom prst="ellipse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949440" y="1828800"/>
            <a:ext cx="4480560" cy="4206240"/>
          </a:xfrm>
          <a:prstGeom prst="roundRect">
            <a:avLst>
              <a:gd name="adj" fmla="val 3261"/>
            </a:avLst>
          </a:prstGeom>
          <a:solidFill>
            <a:srgbClr val="000000">
              <a:alpha val="0"/>
            </a:srgbClr>
          </a:solidFill>
          <a:ln w="25400">
            <a:solidFill>
              <a:srgbClr val="FF5E7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00F0FF">
              <a:alpha val="15000"/>
            </a:srgbClr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🚀 LIVE PLATFORM &amp; OPEN SOURCE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Access Urban Mesh — Live Demo &amp; Codebase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the deployed public cloud platform, 3D Digital Twin, and complete open-source codebase.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257800" cy="4023360"/>
          </a:xfrm>
          <a:prstGeom prst="roundRect">
            <a:avLst>
              <a:gd name="adj" fmla="val 3409"/>
            </a:avLst>
          </a:prstGeom>
          <a:solidFill>
            <a:srgbClr val="0D1636"/>
          </a:solidFill>
          <a:ln w="2540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🌐 CLOUDFLARE HIGH-SPEED TUNNEL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0584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Public Platform (24/7)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103120"/>
            <a:ext cx="1051560" cy="320040"/>
          </a:xfrm>
          <a:prstGeom prst="roundRect">
            <a:avLst>
              <a:gd name="adj" fmla="val 48571"/>
            </a:avLst>
          </a:prstGeom>
          <a:solidFill>
            <a:srgbClr val="00FF88">
              <a:alpha val="15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10312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● ONLINE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92608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HTTPS deployment accessible worldwide. Features live 3D Digital Twin, Google Maps sync, 30s SOS Siren, and Gemini 2.0 Flash AI Copilot.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3749040"/>
            <a:ext cx="4709160" cy="685800"/>
          </a:xfrm>
          <a:prstGeom prst="roundRect">
            <a:avLst>
              <a:gd name="adj" fmla="val 13333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1A26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82219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 WEB URL:</a:t>
            </a:r>
            <a:endParaRPr lang="en-US" sz="800" dirty="0"/>
          </a:p>
        </p:txBody>
      </p:sp>
      <p:sp>
        <p:nvSpPr>
          <p:cNvPr id="14" name="Text 12">
            <a:hlinkClick r:id="rId1" tooltip=""/>
          </p:cNvPr>
          <p:cNvSpPr/>
          <p:nvPr/>
        </p:nvSpPr>
        <p:spPr>
          <a:xfrm>
            <a:off x="1143000" y="40233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https://smith-mysql-initiated-critical.trycloudflare.com/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4709160"/>
            <a:ext cx="2926080" cy="685800"/>
          </a:xfrm>
          <a:prstGeom prst="roundRect">
            <a:avLst>
              <a:gd name="adj" fmla="val 16000"/>
            </a:avLst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6" name="Text 14">
            <a:hlinkClick r:id="rId2" tooltip=""/>
          </p:cNvPr>
          <p:cNvSpPr/>
          <p:nvPr/>
        </p:nvSpPr>
        <p:spPr>
          <a:xfrm>
            <a:off x="1005840" y="47091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080E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🚀 OPEN LIVE WEB APP 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4709160"/>
            <a:ext cx="1600200" cy="685800"/>
          </a:xfrm>
          <a:prstGeom prst="roundRect">
            <a:avLst>
              <a:gd name="adj" fmla="val 16000"/>
            </a:avLst>
          </a:prstGeom>
          <a:solidFill>
            <a:srgbClr val="0D1B3E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4114800" y="47091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00F0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🏙️ 3D TWIN ↗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5257800" cy="4023360"/>
          </a:xfrm>
          <a:prstGeom prst="roundRect">
            <a:avLst>
              <a:gd name="adj" fmla="val 3409"/>
            </a:avLst>
          </a:prstGeom>
          <a:solidFill>
            <a:srgbClr val="0D1636"/>
          </a:solidFill>
          <a:ln w="25400">
            <a:solidFill>
              <a:srgbClr val="9D4E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B4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💻 OFFICIAL CODE REPOSITORY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 Open Source Repository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875520" y="2103120"/>
            <a:ext cx="1325880" cy="320040"/>
          </a:xfrm>
          <a:prstGeom prst="roundRect">
            <a:avLst>
              <a:gd name="adj" fmla="val 48571"/>
            </a:avLst>
          </a:prstGeom>
          <a:solidFill>
            <a:srgbClr val="9D4EDD">
              <a:alpha val="15000"/>
            </a:srgbClr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0" y="21031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B4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⭐ OPEN SOURCE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92240" y="292608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verified source code, Three.js WebGL architecture, Gemini AI proxy, and zero-dependency deployment guide on GitHub.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92240" y="3749040"/>
            <a:ext cx="4709160" cy="685800"/>
          </a:xfrm>
          <a:prstGeom prst="roundRect">
            <a:avLst>
              <a:gd name="adj" fmla="val 13333"/>
            </a:avLst>
          </a:prstGeom>
          <a:solidFill>
            <a:srgbClr val="000000">
              <a:alpha val="50000"/>
            </a:srgbClr>
          </a:solidFill>
          <a:ln w="12700">
            <a:solidFill>
              <a:srgbClr val="1A26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82219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 REPOSITORY URL:</a:t>
            </a:r>
            <a:endParaRPr lang="en-US" sz="800" dirty="0"/>
          </a:p>
        </p:txBody>
      </p:sp>
      <p:sp>
        <p:nvSpPr>
          <p:cNvPr id="27" name="Text 25">
            <a:hlinkClick r:id="rId4" tooltip=""/>
          </p:cNvPr>
          <p:cNvSpPr/>
          <p:nvPr/>
        </p:nvSpPr>
        <p:spPr>
          <a:xfrm>
            <a:off x="6629400" y="40233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u="sng" dirty="0">
                <a:solidFill>
                  <a:srgbClr val="D8B4F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https://github.com/adityayadav880048-png/URBAN-MESH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92240" y="4709160"/>
            <a:ext cx="2926080" cy="685800"/>
          </a:xfrm>
          <a:prstGeom prst="roundRect">
            <a:avLst>
              <a:gd name="adj" fmla="val 16000"/>
            </a:avLst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9" name="Text 27">
            <a:hlinkClick r:id="rId5" tooltip=""/>
          </p:cNvPr>
          <p:cNvSpPr/>
          <p:nvPr/>
        </p:nvSpPr>
        <p:spPr>
          <a:xfrm>
            <a:off x="6492240" y="47091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⭐ VIEW ON GITHUB 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01200" y="4709160"/>
            <a:ext cx="1600200" cy="685800"/>
          </a:xfrm>
          <a:prstGeom prst="roundRect">
            <a:avLst>
              <a:gd name="adj" fmla="val 16000"/>
            </a:avLst>
          </a:prstGeom>
          <a:solidFill>
            <a:srgbClr val="1F1433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1" name="Text 29">
            <a:hlinkClick r:id="rId6" tooltip=""/>
          </p:cNvPr>
          <p:cNvSpPr/>
          <p:nvPr/>
        </p:nvSpPr>
        <p:spPr>
          <a:xfrm>
            <a:off x="9601200" y="47091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u="sng" dirty="0">
                <a:solidFill>
                  <a:srgbClr val="D8B4F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📖 README ↗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1520" y="6035040"/>
            <a:ext cx="10725912" cy="457200"/>
          </a:xfrm>
          <a:prstGeom prst="roundRect">
            <a:avLst>
              <a:gd name="adj" fmla="val 20000"/>
            </a:avLst>
          </a:prstGeom>
          <a:solidFill>
            <a:srgbClr val="000000">
              <a:alpha val="40000"/>
            </a:srgbClr>
          </a:solidFill>
          <a:ln w="12700">
            <a:solidFill>
              <a:srgbClr val="1A26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60350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📱 Instant Mobile Access for Judges: Scan or click URLs above directly from any phone • Protocol: HTTPS • Branch: main • 60 FPS WebGL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2026-10-28T00:14:58Z</dcterms:created>
  <dcterms:modified xsi:type="dcterms:W3CDTF">2026-10-28T00:14:58Z</dcterms:modified>
</cp:coreProperties>
</file>